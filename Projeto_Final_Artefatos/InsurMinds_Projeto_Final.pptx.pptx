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A7E0"/>
          </a:solidFill>
          <a:ln w="12700">
            <a:solidFill>
              <a:srgbClr val="25A7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INSIGHT AI  •  PROJETO FINAL INSURMINDS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589520" y="651052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Deni de Souza Santos  |  Tatiane Ivanof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8138160" y="-1005840"/>
            <a:ext cx="4937760" cy="4937760"/>
          </a:xfrm>
          <a:prstGeom prst="arc">
            <a:avLst/>
          </a:prstGeom>
          <a:solidFill>
            <a:srgbClr val="173E5F">
              <a:alpha val="90000"/>
            </a:srgbClr>
          </a:solidFill>
          <a:ln w="12700">
            <a:solidFill>
              <a:srgbClr val="173E5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INSIGHT AI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2084832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FEFFF"/>
                </a:solidFill>
              </a:rPr>
              <a:t>Sistema Multi-Agente para Análise e Comparação de Apólices D&amp;O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8096" y="3310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9D9"/>
                </a:solidFill>
              </a:rPr>
              <a:t>Projeto Final • InsurMinds •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40416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Deni de Souza Santos — Representante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Tatiane Ivanof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4983480"/>
            <a:ext cx="2651760" cy="310896"/>
          </a:xfrm>
          <a:prstGeom prst="roundRect">
            <a:avLst>
              <a:gd name="adj" fmla="val 17647"/>
            </a:avLst>
          </a:prstGeom>
          <a:solidFill>
            <a:srgbClr val="25A7E0"/>
          </a:solidFill>
          <a:ln w="12700">
            <a:solidFill>
              <a:srgbClr val="25A7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39912" y="504291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IA GENERATIVA + D&amp;O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</a:rPr>
              <a:t>O problema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Comparar apólices D&amp;O exige leitura cuidadosa de documentos extensos e heterogêneos.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83280" cy="42062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" cy="4206240"/>
          </a:xfrm>
          <a:prstGeom prst="rect">
            <a:avLst/>
          </a:prstGeom>
          <a:solidFill>
            <a:srgbClr val="E58A2B"/>
          </a:solidFill>
          <a:ln w="12700">
            <a:solidFill>
              <a:srgbClr val="E58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Leitura manual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84248"/>
            <a:ext cx="2999232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Coberturas, exclusões, franquias/POS, limites e retroatividade ficam distribuídos em diferentes trechos do documento.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383280" cy="42062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417320"/>
            <a:ext cx="64008" cy="420624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Comparação difícil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1984248"/>
            <a:ext cx="2999232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Apólices podem usar terminologias e estruturas distintas, aumentando o esforço para normalizar e confrontar informações.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383280" cy="42062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417320"/>
            <a:ext cx="64008" cy="4206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Risco de inconsistência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984248"/>
            <a:ext cx="2999232" cy="3493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Resumo narrativo sem rastreabilidade pode omitir campos ou interpretar números de forma inadequada. A validação é essencial.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</a:rPr>
              <a:t>A solução: Insight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Uma aplicação Streamlit que coordena agentes especializados para transformar documentos em análise estruturada.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240">
            <a:solidFill>
              <a:srgbClr val="C9D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267712"/>
            <a:ext cx="640080" cy="64008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2386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906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Apólices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PDF / imagem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42032" y="27614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A7E0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880360" y="201168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240">
            <a:solidFill>
              <a:srgbClr val="C9D7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2267712"/>
            <a:ext cx="640080" cy="64008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2386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17520" y="30906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Agente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474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Extrai e normaliza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82312" y="27614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A7E0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20640" y="201168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240">
            <a:solidFill>
              <a:srgbClr val="C9D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42432" y="2267712"/>
            <a:ext cx="640080" cy="64008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42432" y="2386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57800" y="30906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Agente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3474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Analisa coberturas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22592" y="27614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A7E0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360920" y="201168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5240">
            <a:solidFill>
              <a:srgbClr val="C9D7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82712" y="2267712"/>
            <a:ext cx="640080" cy="640080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2386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98080" y="30906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Agente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3474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Compara riscos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62872" y="27614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A7E0"/>
                </a:solidFill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01200" y="2011680"/>
            <a:ext cx="1874520" cy="2057400"/>
          </a:xfrm>
          <a:prstGeom prst="roundRect">
            <a:avLst>
              <a:gd name="adj" fmla="val 2927"/>
            </a:avLst>
          </a:prstGeom>
          <a:solidFill>
            <a:srgbClr val="E9F7EF"/>
          </a:solidFill>
          <a:ln w="15240">
            <a:solidFill>
              <a:srgbClr val="2E8B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22992" y="2267712"/>
            <a:ext cx="640080" cy="6400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22992" y="2386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38360" y="30906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Saída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38360" y="34747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A"/>
                </a:solidFill>
              </a:rPr>
              <a:t>PDF + JSON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</a:rPr>
              <a:t>Objetivo: reduzir esforço de leitura, padronizar a extração e apoiar a comparação — sem substituir a revisão técnica humana.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</a:rPr>
              <a:t>Arquitetura multiagente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Cada agente possui uma responsabilidade delimitada, reduzindo acoplamento e facilitando auditoria.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" cy="4434840"/>
          </a:xfrm>
          <a:prstGeom prst="rect">
            <a:avLst/>
          </a:prstGeom>
          <a:solidFill>
            <a:srgbClr val="25A7E0"/>
          </a:solidFill>
          <a:ln w="12700">
            <a:solidFill>
              <a:srgbClr val="25A7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54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Agente 1 • Extrator &amp; Normalizador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38528"/>
            <a:ext cx="304495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Identifica dados da apólice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Organiza LMG, prêmio e vigência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Extrai coberturas, limites e POS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Estrutura a saída com Pydantic/JSON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371600"/>
            <a:ext cx="64008" cy="443484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554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Agente 2 • Analista de Coberturas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1938528"/>
            <a:ext cx="304495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Interpreta cada apólice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Destaca garantias e exclusões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Aponta franquias e sublimites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Produz parecer técnico individual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71600"/>
            <a:ext cx="64008" cy="44348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554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Agente 3 • Auditor de Riscos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938528"/>
            <a:ext cx="304495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Compara documentos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Evidencia diferenças relevantes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Identifica lacunas e pontos de atenção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• Consolida apoio à decisão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</a:rPr>
              <a:t>Aplicação em funcionamento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Interface do protótipo: upload, execução dos agentes, tabela estruturada e pareceres.</a:t>
            </a:r>
            <a:endParaRPr lang="en-US" sz="1200" dirty="0"/>
          </a:p>
        </p:txBody>
      </p:sp>
      <p:pic>
        <p:nvPicPr>
          <p:cNvPr id="4" name="Image 0" descr="/mnt/data/appshot/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7360920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17320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366760" y="1417320"/>
            <a:ext cx="64008" cy="1143000"/>
          </a:xfrm>
          <a:prstGeom prst="rect">
            <a:avLst/>
          </a:prstGeom>
          <a:solidFill>
            <a:srgbClr val="25A7E0"/>
          </a:solidFill>
          <a:ln w="12700">
            <a:solidFill>
              <a:srgbClr val="25A7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67928" y="160020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Entrada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67928" y="1984248"/>
            <a:ext cx="27706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Duas ou mais apólices para comparação.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366760" y="2743200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66760" y="2743200"/>
            <a:ext cx="64008" cy="114300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7928" y="292608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Processamento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67928" y="3310128"/>
            <a:ext cx="27706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Execução sequencial dos três agentes.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66760" y="4069080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66760" y="4069080"/>
            <a:ext cx="64008" cy="11430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67928" y="4251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Resultado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67928" y="4636008"/>
            <a:ext cx="27706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Tabela comparativa + análises + exportação.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394192" y="55138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B7A"/>
                </a:solidFill>
              </a:rPr>
              <a:t>Nota: captura da interface do protótipo durante os testes.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</a:rPr>
              <a:t>Cenário final de teste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Três apólices D&amp;O fictícias, criadas exclusivamente para validação acadêmica.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6949440" cy="361188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Indicador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Alpha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Gama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Beta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LMG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R$ 5,0 mi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R$ 6,0 mi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R$ 7,5 mi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Prêmio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R$ 42,5 mil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R$ 45,9 mil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R$ 49,8 mil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Retroatividade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01/10/2023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01/10/2022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01/10/2021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Investigações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R$ 1,0 mi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R$ 1,2 mi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R$ 1,5 mi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EPL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R$ 750 mil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R$ 900 mil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A"/>
                          </a:solidFill>
                        </a:rPr>
                        <a:t>R$ 1,0 mi</a:t>
                      </a:r>
                      <a:endParaRPr lang="en-US" sz="12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092440" y="1444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Leitura comparativa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3816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</a:rPr>
              <a:t>BETA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89720" y="2011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Maior LMG e maior retroatividade; também possui o maior prêmio.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138160" y="29718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AA"/>
                </a:solidFill>
              </a:rPr>
              <a:t>ALPHA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89720" y="29260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Menor prêmio entre as três alternativas.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38160" y="3840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8A2B"/>
                </a:solidFill>
              </a:rPr>
              <a:t>GAMA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89720" y="37947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</a:rPr>
              <a:t>Posicionamento intermediário em limites, prêmio e retroatividade.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138160" y="4983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7A"/>
                </a:solidFill>
              </a:rPr>
              <a:t>Os valores estruturados foram usados como referência para a comparação final.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</a:rPr>
              <a:t>Resultados, validação e aprendizado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O protótipo concluiu o fluxo completo e também revelou onde a automação precisa de controles adicionais.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" cy="44348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54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Resultados obtidos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38528"/>
            <a:ext cx="304495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✓ Extração estruturada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✓ Análise individual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✓ Comparação entre apólices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✓ Relatório em 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✓ Exportação em 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✓ Repositório organizado para entrega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371600"/>
            <a:ext cx="64008" cy="4434840"/>
          </a:xfrm>
          <a:prstGeom prst="rect">
            <a:avLst/>
          </a:prstGeom>
          <a:solidFill>
            <a:srgbClr val="E58A2B"/>
          </a:solidFill>
          <a:ln w="12700">
            <a:solidFill>
              <a:srgbClr val="E58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1554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Limitação observada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1938528"/>
            <a:ext cx="304495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Em alguns trechos narrativos, o modelo pode confundir unidades monetárias — por exemplo, “mil” e “mi” — mesmo quando o valor estruturado está correto.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371600"/>
            <a:ext cx="64008" cy="4434840"/>
          </a:xfrm>
          <a:prstGeom prst="rect">
            <a:avLst/>
          </a:prstGeom>
          <a:solidFill>
            <a:srgbClr val="25A7E0"/>
          </a:solidFill>
          <a:ln w="12700">
            <a:solidFill>
              <a:srgbClr val="25A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5544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Melhoria proposta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39328" y="1938528"/>
            <a:ext cx="3044952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Adicionar um checker determinístico após a geração: confrontar valores citados no texto com os campos validados do JSON antes de liberar o relatório final.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</a:rPr>
              <a:t>Conclusão e próximos passos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5216" y="8961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Insight AI demonstra como uma arquitetura multiagente pode apoiar a análise documental em seguros D&amp;O.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</a:rPr>
              <a:t>INSIGHT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49808" y="23317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202A"/>
                </a:solidFill>
              </a:rPr>
              <a:t>Do documento à comparação estruturada, com rastreabilidade e foco em apoio à decisão.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0" y="141732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1417320"/>
            <a:ext cx="64008" cy="1051560"/>
          </a:xfrm>
          <a:prstGeom prst="rect">
            <a:avLst/>
          </a:prstGeom>
          <a:solidFill>
            <a:srgbClr val="25A7E0"/>
          </a:solidFill>
          <a:ln w="12700">
            <a:solidFill>
              <a:srgbClr val="25A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4768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1 • Validação determinística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44768" y="1984248"/>
            <a:ext cx="491947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Checagem automática de números e unidades antes da saída.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69748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2697480"/>
            <a:ext cx="64008" cy="105156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44768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2 • Evolução do OCR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44768" y="3264408"/>
            <a:ext cx="491947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Maior robustez para documentos digitalizados e imagens.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97764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C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3977640"/>
            <a:ext cx="64008" cy="10515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3 • Evolução operacional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44768" y="4544568"/>
            <a:ext cx="491947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</a:rPr>
              <a:t>Testes ampliados, métricas e controles de segurança para cenários reais.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4709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69AA"/>
                </a:solidFill>
              </a:rPr>
              <a:t>Obrigado!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68096" y="5376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</a:rPr>
              <a:t>Deni de Souza Santos  •  Tatiane Ivanof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InsurMinds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 AI</dc:title>
  <dc:subject>Projeto Final InsurMinds 2026</dc:subject>
  <dc:creator>Deni de Souza Santos e Tatiane Ivanof</dc:creator>
  <cp:lastModifiedBy>Deni de Souza Santos e Tatiane Ivanof</cp:lastModifiedBy>
  <cp:revision>1</cp:revision>
  <dcterms:created xsi:type="dcterms:W3CDTF">2026-10-05T21:43:30Z</dcterms:created>
  <dcterms:modified xsi:type="dcterms:W3CDTF">2026-10-05T21:43:30Z</dcterms:modified>
</cp:coreProperties>
</file>